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handoutMaster" Target="handoutMasters/handoutMaster1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ea typeface="Agave Nerd Font" panose="020B0509030604020203" charset="0"/>
              <a:cs typeface="Agave Nerd Font" panose="020B0509030604020203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>
                <a:ea typeface="Agave Nerd Font" panose="020B0509030604020203" charset="0"/>
                <a:cs typeface="Agave Nerd Font" panose="020B0509030604020203" charset="0"/>
              </a:rPr>
            </a:fld>
            <a:endParaRPr lang="en-US">
              <a:ea typeface="Agave Nerd Font" panose="020B0509030604020203" charset="0"/>
              <a:cs typeface="Agave Nerd Font" panose="020B0509030604020203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ea typeface="Agave Nerd Font" panose="020B0509030604020203" charset="0"/>
              <a:cs typeface="Agave Nerd Font" panose="020B0509030604020203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>
                <a:ea typeface="Agave Nerd Font" panose="020B0509030604020203" charset="0"/>
                <a:cs typeface="Agave Nerd Font" panose="020B0509030604020203" charset="0"/>
              </a:rPr>
            </a:fld>
            <a:endParaRPr lang="en-US">
              <a:ea typeface="Agave Nerd Font" panose="020B0509030604020203" charset="0"/>
              <a:cs typeface="Agave Nerd Font" panose="020B0509030604020203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Agave Nerd Font" panose="020B0509030604020203" charset="0"/>
                <a:cs typeface="Agave Nerd Font" panose="020B0509030604020203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Agave Nerd Font" panose="020B0509030604020203" charset="0"/>
                <a:cs typeface="Agave Nerd Font" panose="020B0509030604020203" charset="0"/>
              </a:defRPr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Agave Nerd Font" panose="020B0509030604020203" charset="0"/>
                <a:cs typeface="Agave Nerd Font" panose="020B0509030604020203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Agave Nerd Font" panose="020B0509030604020203" charset="0"/>
                <a:cs typeface="Agave Nerd Font" panose="020B0509030604020203" charset="0"/>
              </a:defRPr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Agave Nerd Font" panose="020B0509030604020203" charset="0"/>
        <a:cs typeface="Agave Nerd Font" panose="020B0509030604020203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Agave Nerd Font" panose="020B0509030604020203" charset="0"/>
        <a:cs typeface="Agave Nerd Font" panose="020B0509030604020203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Agave Nerd Font" panose="020B0509030604020203" charset="0"/>
        <a:cs typeface="Agave Nerd Font" panose="020B0509030604020203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Agave Nerd Font" panose="020B0509030604020203" charset="0"/>
        <a:cs typeface="Agave Nerd Font" panose="020B0509030604020203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Agave Nerd Font" panose="020B0509030604020203" charset="0"/>
        <a:cs typeface="Agave Nerd Font" panose="020B0509030604020203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1025"/>
          <p:cNvSpPr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/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29" name="Footer Placeholder 1028"/>
          <p:cNvSpPr/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Slide Number Placeholder 1029"/>
          <p:cNvSpPr/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80604020202020204" pitchFamily="34" charset="0"/>
        <a:buNone/>
        <a:defRPr b="0" i="0" u="none" kern="1200" baseline="0">
          <a:solidFill>
            <a:schemeClr val="tx1"/>
          </a:solidFill>
          <a:latin typeface="Arial" panose="0208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215390"/>
            <a:ext cx="6858000" cy="1607185"/>
          </a:xfrm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sz="40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gave Nerd Font" panose="020B0509030604020203" charset="0"/>
              </a:rPr>
              <a:t>Plateforme de Recrutement Intelligente</a:t>
            </a:r>
            <a:endParaRPr sz="40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Agave Nerd Font" panose="020B0509030604020203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89355" y="3199130"/>
            <a:ext cx="6765290" cy="870585"/>
          </a:xfrm>
        </p:spPr>
        <p:txBody>
          <a:bodyPr/>
          <a:lstStyle/>
          <a:p>
            <a:r>
              <a:rPr sz="1600">
                <a:latin typeface="Agave Nerd Font" panose="020B0509030604020203" charset="0"/>
              </a:rPr>
              <a:t>Projet JEE 2026 - Architecture Hybride FastAPI + Spring Boot</a:t>
            </a:r>
            <a:endParaRPr sz="1600">
              <a:latin typeface="Agave Nerd Font" panose="020B0509030604020203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sz="2800">
                <a:latin typeface="Agave Nerd Font" panose="020B0509030604020203" charset="0"/>
                <a:ea typeface="Agave Nerd Font" panose="020B0509030604020203" charset="0"/>
              </a:rPr>
              <a:t>Description du Projet</a:t>
            </a:r>
            <a:endParaRPr sz="2800">
              <a:latin typeface="Agave Nerd Font" panose="020B0509030604020203" charset="0"/>
              <a:ea typeface="Agave Nerd Font" panose="020B05090306040202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Application hybride combinant FastAPI (Python) et Spring Boot (Java)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Connecte candidats chercheurs d'emploi aux recruteurs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Algorithmes d'IA pour matcher candidats et offres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API REST avec documentation Swagger/OpenAPI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Agave Nerd Font" panose="020B0509030604020203" charset="0"/>
              </a:rPr>
              <a:t>Objectifs:</a:t>
            </a:r>
            <a:endParaRPr sz="160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pattFill prst="narHorz">
                <a:fgClr>
                  <a:schemeClr val="accent3"/>
                </a:fgClr>
                <a:bgClr>
                  <a:schemeClr val="accent3">
                    <a:lumMod val="40000"/>
                    <a:lumOff val="60000"/>
                  </a:schemeClr>
                </a:bgClr>
              </a:pattFill>
              <a:effectLst>
                <a:innerShdw blurRad="177800">
                  <a:schemeClr val="accent3">
                    <a:lumMod val="50000"/>
                  </a:schemeClr>
                </a:innerShdw>
              </a:effectLst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Faciliter la mise en relation candidats-recruteurs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Automatiser le recrutement grâce à l'IA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Centraliser les offres et CVs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Documentation API interactive</a:t>
            </a:r>
            <a:endParaRPr sz="1600">
              <a:latin typeface="Agave Nerd Font" panose="020B0509030604020203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latin typeface="Agave Nerd Font" panose="020B0509030604020203" charset="0"/>
              </a:rPr>
              <a:t>Technologies Utilisées</a:t>
            </a:r>
            <a:endParaRPr sz="2800">
              <a:latin typeface="Agave Nerd Font" panose="020B0509030604020203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Catégorie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Technologie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API Layer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Python 3.11+ + FastAPI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Backend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Java 17+ + Spring Boot 3.x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Persistance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Spring Data JPA + Hibernate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Base de données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PostgreSQL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Communication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REST / JSON (FastAPI ↔ Spring Boot)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Authentification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JWT + Spring Security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Documentation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Swagger UI / ReDoc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Tests API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pytest + httpx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Tests Backend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JUnit 5, Mockito, Testcontainers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IA/ML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scikit-learn, spaCy, NLTK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Serveur API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uvicorn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Serveur Backend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Embedded Tomcat (Spring Boot)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Docker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Docker Compose multi-container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>
                <a:latin typeface="Agave Nerd Font" panose="020B0509030604020203" charset="0"/>
              </a:rPr>
              <a:t>Architecture Hybride FastAPI + Spring Boot</a:t>
            </a:r>
            <a:endParaRPr sz="2800">
              <a:latin typeface="Agave Nerd Font" panose="020B05090306040202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Client API → FastAPI Gateway (Port 8000)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    ↓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    Communication REST/JSON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    ↓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Spring Boot Backend (Port 8080)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    ├── @RestController (REST Controllers)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    ├── @Service (Business Logic)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    ├── @Repository (Spring Data JPA)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    └── @Entity (JPA Entities)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    ↓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PostgreSQL Database</a:t>
            </a:r>
            <a:endParaRPr sz="1600">
              <a:latin typeface="Agave Nerd Font" panose="020B0509030604020203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latin typeface="Agave Nerd Font" panose="020B0509030604020203" charset="0"/>
              </a:rPr>
              <a:t>Acteurs du Système</a:t>
            </a:r>
            <a:endParaRPr sz="2800">
              <a:latin typeface="Agave Nerd Font" panose="020B0509030604020203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805"/>
                <a:gridCol w="4963795"/>
              </a:tblGrid>
              <a:tr h="12192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Acteur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Description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Candidat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Personne recherchant un emploi via API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Recruteur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Représentant entreprise, publie des offres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Administrateur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Gère la plateforme, modère le contenu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Client API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Application tierce consommant les endpoints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Système IA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Analyse les CVs et matche avec les offres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>
                <a:latin typeface="Agave Nerd Font" panose="020B0509030604020203" charset="0"/>
              </a:rPr>
              <a:t>Endpoints API - Authentication</a:t>
            </a:r>
            <a:endParaRPr sz="2800">
              <a:latin typeface="Agave Nerd Font" panose="020B0509030604020203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821180"/>
          <a:ext cx="8229600" cy="1225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146304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Méthode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Endpoint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Description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146304"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POST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/api/v1/auth/register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Inscription candidat/recruteur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POST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/api/v1/auth/login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Connexion + Token JWT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POST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/api/v1/auth/refresh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Rafraîchir le token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</a:tr>
              <a:tr h="146304"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POST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/api/v1/auth/logout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Déconnexion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latin typeface="Agave Nerd Font" panose="020B0509030604020203" charset="0"/>
              </a:rPr>
              <a:t>Endpoints API - Candidat</a:t>
            </a:r>
            <a:endParaRPr sz="2800">
              <a:latin typeface="Agave Nerd Font" panose="020B0509030604020203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715"/>
                <a:gridCol w="3829685"/>
                <a:gridCol w="2743200"/>
              </a:tblGrid>
              <a:tr h="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Méthode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Endpoint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Description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GET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/api/v1/candidats/me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Profil du candidat connecté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PUT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/api/v1/candidats/me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Modifier le profil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POST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/api/v1/candidats/me/cv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Uploader un CV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GET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/api/v1/offres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Rechercher des offres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POST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/api/v1/offres/{id}/postuler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Postuler à une offre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GET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/api/v1/candidats/me/candidatures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Mes candidatures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latin typeface="Agave Nerd Font" panose="020B0509030604020203" charset="0"/>
              </a:rPr>
              <a:t>Endpoints API - Recruteur</a:t>
            </a:r>
            <a:endParaRPr sz="2800">
              <a:latin typeface="Agave Nerd Font" panose="020B0509030604020203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Méthode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Endpoint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Description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GET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/api/v1/recruteurs/me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Profil du recruteur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POST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/api/v1/recruteurs/me/entreprises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Créer une entreprise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POST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/api/v1/offres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Créer une offre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GET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/api/v1/recruteurs/me/offres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Mes offres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PUT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/api/v1/offres/{id}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Modifier une offre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DELETE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/api/v1/offres/{id}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Supprimer une offre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GET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/api/v1/offres/{id}/candidatures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Candidatures d'une offre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latin typeface="Agave Nerd Font" panose="020B0509030604020203" charset="0"/>
              </a:rPr>
              <a:t>Endpoints API - Admin &amp; IA</a:t>
            </a:r>
            <a:endParaRPr sz="2800">
              <a:latin typeface="Agave Nerd Font" panose="020B0509030604020203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943850" cy="230695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 sz="2000" b="1">
                <a:solidFill>
                  <a:srgbClr val="0070C0"/>
                </a:solidFill>
              </a:defRPr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Admin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GET /api/v1/admin/stats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 </a:t>
            </a:r>
            <a:r>
              <a:rPr lang="fr-FR"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   </a:t>
            </a:r>
            <a:r>
              <a:rPr sz="1600">
                <a:solidFill>
                  <a:srgbClr val="00B050"/>
                </a:solidFill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Statistiques globales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GET /api/v1/admin/utilisateurs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    </a:t>
            </a:r>
            <a:r>
              <a:rPr sz="1600">
                <a:solidFill>
                  <a:srgbClr val="00B050"/>
                </a:solidFill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Lister tous les utilisateurs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PUT /api/v1/admin/utilisateurs/{id}/valider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    </a:t>
            </a:r>
            <a:r>
              <a:rPr sz="1600">
                <a:solidFill>
                  <a:srgbClr val="00B050"/>
                </a:solidFill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Valider un compte</a:t>
            </a:r>
            <a:endParaRPr sz="1600">
              <a:solidFill>
                <a:srgbClr val="00B050"/>
              </a:solidFill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46405" y="3714750"/>
            <a:ext cx="7954010" cy="230695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 sz="2000" b="1">
                <a:solidFill>
                  <a:srgbClr val="0070C0"/>
                </a:solidFill>
              </a:defRPr>
            </a:pPr>
            <a:r>
              <a:rPr sz="1600">
                <a:solidFill>
                  <a:srgbClr val="FF0000"/>
                </a:solidFill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IA / Matching</a:t>
            </a:r>
            <a:endParaRPr sz="1600">
              <a:solidFill>
                <a:srgbClr val="FF0000"/>
              </a:solidFill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POST /api/v1/ai/parse-cv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    </a:t>
            </a:r>
            <a:r>
              <a:rPr sz="1600">
                <a:solidFill>
                  <a:srgbClr val="00B050"/>
                </a:solidFill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Parser un CV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GET /api/v1/matching/candidats/{id}/offres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    </a:t>
            </a:r>
            <a:r>
              <a:rPr sz="1600">
                <a:solidFill>
                  <a:srgbClr val="00B050"/>
                </a:solidFill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Offres recommandées</a:t>
            </a:r>
            <a:endParaRPr sz="1600">
              <a:solidFill>
                <a:srgbClr val="00B050"/>
              </a:solidFill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GET /api/v1/matching/offres/{id}/candidats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    </a:t>
            </a:r>
            <a:r>
              <a:rPr sz="1600">
                <a:solidFill>
                  <a:srgbClr val="00B050"/>
                </a:solidFill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Candidats recommandés</a:t>
            </a:r>
            <a:endParaRPr sz="1600">
              <a:solidFill>
                <a:srgbClr val="00B050"/>
              </a:solidFill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>
                <a:latin typeface="Agave Nerd Font" panose="020B0509030604020203" charset="0"/>
              </a:rPr>
              <a:t>Répartition des Rôles (7 Étudiants)</a:t>
            </a:r>
            <a:endParaRPr sz="2800">
              <a:latin typeface="Agave Nerd Font" panose="020B0509030604020203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17955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3645"/>
                <a:gridCol w="2641600"/>
                <a:gridCol w="4364355"/>
              </a:tblGrid>
              <a:tr h="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#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Rôle Principal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Responsabilités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1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Chef de Projet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Architecture hybride, coordination, documentation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2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Backend Java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JPA Entities, Spring Data JPA, config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3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Backend Java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@Service, logique business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4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Backend Java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@RestController, DTOs, exception handling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5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API Python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FastAPI Routes, Pydantic schemas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6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IA/ML Python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CV Parser, NLP, Matching Engine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7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DevOps &amp; QA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Agave Nerd Font" panose="020B0509030604020203" charset="0"/>
                          <a:ea typeface="Agave Nerd Font" panose="020B0509030604020203" charset="0"/>
                          <a:cs typeface="Agave Nerd Font" panose="020B0509030604020203" charset="0"/>
                        </a:rPr>
                        <a:t>Tests, Docker, CI/CD, Postman</a:t>
                      </a:r>
                      <a:endParaRPr sz="1600">
                        <a:latin typeface="Agave Nerd Font" panose="020B0509030604020203" charset="0"/>
                        <a:ea typeface="Agave Nerd Font" panose="020B0509030604020203" charset="0"/>
                        <a:cs typeface="Agave Nerd Font" panose="020B0509030604020203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>
                <a:latin typeface="Agave Nerd Font" panose="020B0509030604020203" charset="0"/>
              </a:rPr>
              <a:t>Étudiant 1: Chef de Projet &amp; Architecte</a:t>
            </a:r>
            <a:endParaRPr sz="2800">
              <a:latin typeface="Agave Nerd Font" panose="020B05090306040202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solidFill>
                  <a:srgbClr val="00B0F0"/>
                </a:solidFill>
                <a:latin typeface="Agave Nerd Font" panose="020B0509030604020203" charset="0"/>
              </a:rPr>
              <a:t>Responsabilités:</a:t>
            </a:r>
            <a:endParaRPr sz="1600">
              <a:solidFill>
                <a:srgbClr val="00B0F0"/>
              </a:solidFill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Architecture Hybride FastAPI + Spring Boot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Coordination équipe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Fusion du code, résolution conflits Git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Documentation technique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Revue de code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solidFill>
                  <a:srgbClr val="00B0F0"/>
                </a:solidFill>
                <a:latin typeface="Agave Nerd Font" panose="020B0509030604020203" charset="0"/>
              </a:rPr>
              <a:t>Livrables:</a:t>
            </a:r>
            <a:endParaRPr sz="1600">
              <a:solidFill>
                <a:srgbClr val="00B0F0"/>
              </a:solidFill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Diagramme d'architecture complète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Spécification OpenAPI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Postman Collection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Rapports d'avancement</a:t>
            </a:r>
            <a:endParaRPr sz="1600">
              <a:latin typeface="Agave Nerd Font" panose="020B0509030604020203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>
                <a:latin typeface="Agave Nerd Font" panose="020B0509030604020203" charset="0"/>
              </a:rPr>
              <a:t>Backend Java - Data &amp; Service Layers</a:t>
            </a:r>
            <a:endParaRPr sz="2800">
              <a:latin typeface="Agave Nerd Font" panose="020B0509030604020203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3538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70C0"/>
                </a:solidFill>
              </a:defRPr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Étudiant 2: Data Layer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Entités JPA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• @Entity annotations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• Utilisateur, Candidat, Recruteur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• Offre, Candidature, Entreprise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Spring Data JPA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• Repository interfaces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• JpaRepository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• Custom queries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Configuration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• application.properties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• Bean Validation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3835400" cy="3046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70C0"/>
                </a:solidFill>
              </a:defRPr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Étudiant 3: Service Layer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@Service Components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• UtilisateurService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• CandidatService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• RecruteurService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• OffreService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• CandidatureService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• AdminService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Logique métier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• @Transactional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• Integration Repository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>
                <a:latin typeface="Agave Nerd Font" panose="020B0509030604020203" charset="0"/>
              </a:rPr>
              <a:t>Étudiant 4: Backend Java (REST Controllers)</a:t>
            </a:r>
            <a:endParaRPr sz="2800">
              <a:latin typeface="Agave Nerd Font" panose="020B05090306040202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4708525"/>
          </a:xfrm>
        </p:spPr>
        <p:txBody>
          <a:bodyPr>
            <a:normAutofit lnSpcReduction="20000"/>
          </a:bodyPr>
          <a:lstStyle/>
          <a:p>
            <a:pPr marL="0" indent="0">
              <a:buNone/>
            </a:pP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Responsabilités: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• @RestController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• @RequestMapping, @GetMapping, @PostMapping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• Data Transfer Objects (DTOs)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• GlobalExceptionHandler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• Configuration CORS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• @Valid, BindingResult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Livrables: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• UtilisateurController.java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• CandidatController.java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• RecruteurController.java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• OffreController.java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• CandidatureController.java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• AdminController.java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• MatchingController.java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• Tous les DTOs</a:t>
            </a:r>
            <a:endParaRPr sz="1780">
              <a:latin typeface="Agave Nerd Font" panose="020B0509030604020203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>
                <a:latin typeface="Agave Nerd Font" panose="020B0509030604020203" charset="0"/>
              </a:rPr>
              <a:t>Étudiant 5: API Developer (FastAPI)</a:t>
            </a:r>
            <a:endParaRPr sz="2800">
              <a:latin typeface="Agave Nerd Font" panose="020B05090306040202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57960"/>
            <a:ext cx="8229600" cy="466852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Responsabilités: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Configuration FastAPI, uvicorn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Pydantic Schemas (validation)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API Routes (auth, candidats, recruteurs, offres, admin)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HTTP Client vers Spring Boot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Authentification JWT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Middleware (CORS, logging, rate limiting)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Livrables: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app/schemas/*.py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app/api/v1/*.py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app/core/spring_client.py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app/core/security.py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Tests pytest</a:t>
            </a:r>
            <a:endParaRPr sz="1600">
              <a:latin typeface="Agave Nerd Font" panose="020B0509030604020203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latin typeface="Agave Nerd Font" panose="020B0509030604020203" charset="0"/>
              </a:rPr>
              <a:t>Étudiant 6: IA/ML Developer</a:t>
            </a:r>
            <a:endParaRPr sz="2800">
              <a:latin typeface="Agave Nerd Font" panose="020B05090306040202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955"/>
            <a:ext cx="8229600" cy="470852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Responsabilités: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CV Parsing (PDF/DOCX)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Skill Extraction (NLP avec spaCy/NLTK)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Matching Engine (cosine, Jaccard)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Système de recommandation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Integration FastAPI + Spring Boot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Livrables: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cv_parser.py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skill_extractor.py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matching_engine.py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recommendation_engine.py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ML models entraînés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API /api/v1/matching/*</a:t>
            </a:r>
            <a:endParaRPr sz="1600">
              <a:latin typeface="Agave Nerd Font" panose="020B0509030604020203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48970"/>
            <a:ext cx="6728460" cy="582930"/>
          </a:xfrm>
        </p:spPr>
        <p:txBody>
          <a:bodyPr>
            <a:normAutofit/>
          </a:bodyPr>
          <a:lstStyle/>
          <a:p>
            <a:r>
              <a:rPr sz="2800">
                <a:latin typeface="Agave Nerd Font" panose="020B0509030604020203" charset="0"/>
              </a:rPr>
              <a:t>Étudiant 7: DevOps &amp; QA Engineer</a:t>
            </a:r>
            <a:endParaRPr sz="2800">
              <a:latin typeface="Agave Nerd Font" panose="020B05090306040202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15745"/>
            <a:ext cx="8229600" cy="461073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Responsabilités: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Docker (FastAPI + Spring Boot)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docker-compose.yml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Tests API (pytest) + Tests Java (JUnit, MockMvc)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Postman Collection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CI/CD GitHub Actions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Déploiement production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Monitoring logs et métriques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Livrables: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Dockerfiles (FastAPI + Spring Boot)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Tests complets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CI/CD pipeline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Guide de déploiement</a:t>
            </a:r>
            <a:endParaRPr sz="1600">
              <a:latin typeface="Agave Nerd Font" panose="020B0509030604020203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>
                <a:latin typeface="Agave Nerd Font" panose="020B0509030604020203" charset="0"/>
              </a:rPr>
              <a:t>Planning de Développement</a:t>
            </a:r>
            <a:endParaRPr sz="2800">
              <a:latin typeface="Agave Nerd Font" panose="020B05090306040202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48765"/>
            <a:ext cx="8229600" cy="457771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solidFill>
                  <a:srgbClr val="00B050"/>
                </a:solidFill>
                <a:latin typeface="Agave Nerd Font" panose="020B0509030604020203" charset="0"/>
              </a:rPr>
              <a:t>Phase 1 : Initialisation</a:t>
            </a:r>
            <a:endParaRPr sz="1600">
              <a:solidFill>
                <a:srgbClr val="00B050"/>
              </a:solidFill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Setup FastAPI + Spring Boot Initializr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solidFill>
                  <a:srgbClr val="00B050"/>
                </a:solidFill>
                <a:latin typeface="Agave Nerd Font" panose="020B0509030604020203" charset="0"/>
              </a:rPr>
              <a:t>Phase 2 : Backend Data Layer</a:t>
            </a:r>
            <a:endParaRPr sz="1600">
              <a:solidFill>
                <a:srgbClr val="00B050"/>
              </a:solidFill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Entités JPA, Spring Data JPA Repositories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solidFill>
                  <a:srgbClr val="00B050"/>
                </a:solidFill>
                <a:latin typeface="Agave Nerd Font" panose="020B0509030604020203" charset="0"/>
              </a:rPr>
              <a:t>Phase 3 : Backend Services</a:t>
            </a:r>
            <a:endParaRPr sz="1600">
              <a:solidFill>
                <a:srgbClr val="00B050"/>
              </a:solidFill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@Service, logique métier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solidFill>
                  <a:srgbClr val="00B050"/>
                </a:solidFill>
                <a:latin typeface="Agave Nerd Font" panose="020B0509030604020203" charset="0"/>
              </a:rPr>
              <a:t>Phase 4 : Backend REST</a:t>
            </a:r>
            <a:endParaRPr sz="1600">
              <a:solidFill>
                <a:srgbClr val="00B050"/>
              </a:solidFill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@RestController, DTOs, Exception handling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solidFill>
                  <a:srgbClr val="00B050"/>
                </a:solidFill>
                <a:latin typeface="Agave Nerd Font" panose="020B0509030604020203" charset="0"/>
              </a:rPr>
              <a:t>Phase 5 : API FastAPI</a:t>
            </a:r>
            <a:endParaRPr sz="1600">
              <a:solidFill>
                <a:srgbClr val="00B050"/>
              </a:solidFill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Routes, Schemas, Spring Client, Auth JWT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solidFill>
                  <a:srgbClr val="00B050"/>
                </a:solidFill>
                <a:latin typeface="Agave Nerd Font" panose="020B0509030604020203" charset="0"/>
              </a:rPr>
              <a:t>Phase 6 : IA Module</a:t>
            </a:r>
            <a:endParaRPr sz="1600">
              <a:solidFill>
                <a:srgbClr val="00B050"/>
              </a:solidFill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CV Parser, Skill Extractor, Matching Engine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solidFill>
                  <a:srgbClr val="00B050"/>
                </a:solidFill>
                <a:latin typeface="Agave Nerd Font" panose="020B0509030604020203" charset="0"/>
              </a:rPr>
              <a:t>Phase 7 : Tests &amp; Déploiement</a:t>
            </a:r>
            <a:endParaRPr sz="1600">
              <a:solidFill>
                <a:srgbClr val="00B050"/>
              </a:solidFill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Tests E2E, Postman, Docker, Déploiement</a:t>
            </a:r>
            <a:endParaRPr sz="1600">
              <a:latin typeface="Agave Nerd Font" panose="020B0509030604020203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>
                <a:latin typeface="Agave Nerd Font" panose="020B0509030604020203" charset="0"/>
              </a:rPr>
              <a:t>Structure du Projet - API Gateway (FastAPI)</a:t>
            </a:r>
            <a:endParaRPr sz="2800">
              <a:latin typeface="Agave Nerd Font" panose="020B05090306040202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5415"/>
            <a:ext cx="8229600" cy="4711065"/>
          </a:xfrm>
        </p:spPr>
        <p:txBody>
          <a:bodyPr>
            <a:normAutofit fontScale="90000" lnSpcReduction="20000"/>
          </a:bodyPr>
          <a:lstStyle/>
          <a:p>
            <a:pPr marL="0" indent="0">
              <a:buNone/>
            </a:pP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api-gateway/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├── app/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│   ├── main.py              # Entry point FastAPI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│   ├── config.py            # Configuration Spring Boot URL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│   ├── schemas/             # Pydantic Schemas (DTO)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│   ├── api/v1/              # API Routes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│   │   ├── auth.py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│   │   ├── candidats.py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│   │   ├── recruteurs.py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│   │   ├── offres.py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│   │   ├── admin.py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│   │   └── matching.py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│   ├── core/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│   │   ├── security.py      # JWT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│   │   └── spring_client.py # HTTP client Spring Boot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│   └── ai/                  # CV Parser, NLP, Matching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└── requirements.txt</a:t>
            </a:r>
            <a:endParaRPr sz="1780">
              <a:latin typeface="Agave Nerd Font" panose="020B0509030604020203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>
                <a:latin typeface="Agave Nerd Font" panose="020B0509030604020203" charset="0"/>
              </a:rPr>
              <a:t>Structure du Projet - Backend (Spring Boot)</a:t>
            </a:r>
            <a:endParaRPr sz="2800">
              <a:latin typeface="Agave Nerd Font" panose="020B05090306040202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7760"/>
            <a:ext cx="8228330" cy="5304155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sz="15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500">
                <a:latin typeface="Agave Nerd Font" panose="020B0509030604020203" charset="0"/>
              </a:rPr>
              <a:t>backend/</a:t>
            </a:r>
            <a:endParaRPr sz="15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500">
                <a:latin typeface="Agave Nerd Font" panose="020B0509030604020203" charset="0"/>
              </a:rPr>
              <a:t>├── src/main/java/ma/recrutement/</a:t>
            </a:r>
            <a:endParaRPr sz="15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500">
                <a:latin typeface="Agave Nerd Font" panose="020B0509030604020203" charset="0"/>
              </a:rPr>
              <a:t>│   ├── RecrutementApplication.java</a:t>
            </a:r>
            <a:endParaRPr sz="15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500">
                <a:latin typeface="Agave Nerd Font" panose="020B0509030604020203" charset="0"/>
              </a:rPr>
              <a:t>│   ├── entity/              # @Entity JPA</a:t>
            </a:r>
            <a:endParaRPr sz="15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500">
                <a:latin typeface="Agave Nerd Font" panose="020B0509030604020203" charset="0"/>
              </a:rPr>
              <a:t>│   │   ├── Utilisateur.java</a:t>
            </a:r>
            <a:endParaRPr sz="15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500">
                <a:latin typeface="Agave Nerd Font" panose="020B0509030604020203" charset="0"/>
              </a:rPr>
              <a:t>│   │   ├── Candidat.java</a:t>
            </a:r>
            <a:endParaRPr sz="15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500">
                <a:latin typeface="Agave Nerd Font" panose="020B0509030604020203" charset="0"/>
              </a:rPr>
              <a:t>│   │   └── OffreEmploi.java</a:t>
            </a:r>
            <a:endParaRPr sz="15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500">
                <a:latin typeface="Agave Nerd Font" panose="020B0509030604020203" charset="0"/>
              </a:rPr>
              <a:t>│   ├── repository/          # Spring Data JPA</a:t>
            </a:r>
            <a:endParaRPr sz="15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500">
                <a:latin typeface="Agave Nerd Font" panose="020B0509030604020203" charset="0"/>
              </a:rPr>
              <a:t>│   │   └── *Repository.java</a:t>
            </a:r>
            <a:endParaRPr sz="15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500">
                <a:latin typeface="Agave Nerd Font" panose="020B0509030604020203" charset="0"/>
              </a:rPr>
              <a:t>│   ├── service/             # @Service</a:t>
            </a:r>
            <a:endParaRPr sz="15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500">
                <a:latin typeface="Agave Nerd Font" panose="020B0509030604020203" charset="0"/>
              </a:rPr>
              <a:t>│   │   └── *Service.java</a:t>
            </a:r>
            <a:endParaRPr sz="15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500">
                <a:latin typeface="Agave Nerd Font" panose="020B0509030604020203" charset="0"/>
              </a:rPr>
              <a:t>│   ├── controller/          # @RestController</a:t>
            </a:r>
            <a:endParaRPr sz="15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500">
                <a:latin typeface="Agave Nerd Font" panose="020B0509030604020203" charset="0"/>
              </a:rPr>
              <a:t>│   │   └── *Controller.java</a:t>
            </a:r>
            <a:endParaRPr sz="15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500">
                <a:latin typeface="Agave Nerd Font" panose="020B0509030604020203" charset="0"/>
              </a:rPr>
              <a:t>│   ├── dto/                 # DTOs</a:t>
            </a:r>
            <a:endParaRPr sz="15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500">
                <a:latin typeface="Agave Nerd Font" panose="020B0509030604020203" charset="0"/>
              </a:rPr>
              <a:t>│   └── config/              # SecurityConfig, etc</a:t>
            </a:r>
            <a:endParaRPr sz="15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500">
                <a:latin typeface="Agave Nerd Font" panose="020B0509030604020203" charset="0"/>
              </a:rPr>
              <a:t>├── src/main/resources/</a:t>
            </a:r>
            <a:endParaRPr sz="15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500">
                <a:latin typeface="Agave Nerd Font" panose="020B0509030604020203" charset="0"/>
              </a:rPr>
              <a:t>│   └── application.properties</a:t>
            </a:r>
            <a:endParaRPr sz="15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500">
                <a:latin typeface="Agave Nerd Font" panose="020B0509030604020203" charset="0"/>
              </a:rPr>
              <a:t>└── pom.xml</a:t>
            </a:r>
            <a:endParaRPr sz="1500">
              <a:latin typeface="Agave Nerd Font" panose="020B0509030604020203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>
                <a:latin typeface="Agave Nerd Font" panose="020B0509030604020203" charset="0"/>
              </a:rPr>
              <a:t>Validation du Plan - Tests à Effectuer</a:t>
            </a:r>
            <a:endParaRPr sz="2800">
              <a:latin typeface="Agave Nerd Font" panose="020B05090306040202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320"/>
            <a:ext cx="8229600" cy="4709160"/>
          </a:xfrm>
        </p:spPr>
        <p:txBody>
          <a:bodyPr>
            <a:normAutofit fontScale="90000" lnSpcReduction="10000"/>
          </a:bodyPr>
          <a:lstStyle/>
          <a:p>
            <a:pPr marL="0" indent="0">
              <a:buNone/>
            </a:pP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Tests API obligatoires: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1. POST /api/v1/auth/register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   </a:t>
            </a:r>
            <a:r>
              <a:rPr sz="1780">
                <a:solidFill>
                  <a:srgbClr val="00B050"/>
                </a:solidFill>
                <a:latin typeface="Agave Nerd Font" panose="020B0509030604020203" charset="0"/>
              </a:rPr>
              <a:t>→ Créer un compte (FastAPI → Spring Boot)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2. POST /api/v1/auth/login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   </a:t>
            </a:r>
            <a:r>
              <a:rPr sz="1780">
                <a:solidFill>
                  <a:srgbClr val="00B050"/>
                </a:solidFill>
                <a:latin typeface="Agave Nerd Font" panose="020B0509030604020203" charset="0"/>
              </a:rPr>
              <a:t>→ Se connecter et récupérer token JWT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3. POST /api/v1/offres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   </a:t>
            </a:r>
            <a:r>
              <a:rPr sz="1780">
                <a:solidFill>
                  <a:srgbClr val="00B050"/>
                </a:solidFill>
                <a:latin typeface="Agave Nerd Font" panose="020B0509030604020203" charset="0"/>
              </a:rPr>
              <a:t>→ Créer une offre (recruteur)</a:t>
            </a:r>
            <a:endParaRPr sz="1780">
              <a:solidFill>
                <a:srgbClr val="00B050"/>
              </a:solidFill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4. POST /api/v1/candidats/me/cv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   </a:t>
            </a:r>
            <a:r>
              <a:rPr sz="1780">
                <a:solidFill>
                  <a:srgbClr val="00B050"/>
                </a:solidFill>
                <a:latin typeface="Agave Nerd Font" panose="020B0509030604020203" charset="0"/>
              </a:rPr>
              <a:t>→ Uploader un CV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5. POST /api/v1/ai/parse-cv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   </a:t>
            </a:r>
            <a:r>
              <a:rPr sz="1780">
                <a:solidFill>
                  <a:srgbClr val="00B050"/>
                </a:solidFill>
                <a:latin typeface="Agave Nerd Font" panose="020B0509030604020203" charset="0"/>
              </a:rPr>
              <a:t>→ Parser un CV (Python IA)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6. GET /api/v1/matching/offres/{id}/candidats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   </a:t>
            </a:r>
            <a:r>
              <a:rPr sz="1780">
                <a:solidFill>
                  <a:srgbClr val="00B050"/>
                </a:solidFill>
                <a:latin typeface="Agave Nerd Font" panose="020B0509030604020203" charset="0"/>
              </a:rPr>
              <a:t>→ Obtenir suggestions IA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7. GET /api/v1/admin/stats</a:t>
            </a:r>
            <a:endParaRPr sz="178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780">
                <a:latin typeface="Agave Nerd Font" panose="020B0509030604020203" charset="0"/>
              </a:rPr>
              <a:t>   </a:t>
            </a:r>
            <a:r>
              <a:rPr sz="1780">
                <a:solidFill>
                  <a:srgbClr val="00B050"/>
                </a:solidFill>
                <a:latin typeface="Agave Nerd Font" panose="020B0509030604020203" charset="0"/>
              </a:rPr>
              <a:t>→ Consulter stats</a:t>
            </a:r>
            <a:endParaRPr sz="1780">
              <a:solidFill>
                <a:srgbClr val="00B050"/>
              </a:solidFill>
              <a:latin typeface="Agave Nerd Font" panose="020B0509030604020203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>
                <a:latin typeface="Agave Nerd Font" panose="020B0509030604020203" charset="0"/>
              </a:rPr>
              <a:t>Outils de Test &amp; Développement</a:t>
            </a:r>
            <a:endParaRPr sz="2800">
              <a:latin typeface="Agave Nerd Font" panose="020B05090306040202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60248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Test API: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Swagger UI: http://localhost:8000/docs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ReDoc: http://localhost:8000/redoc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Postman: Collection importable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pytest: Tests automatisés FastAPI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Test Backend: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JUnit 5 + MockMvc: Tests Spring Boot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Testcontainers: Tests d'intégration PostgreSQL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Développement: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Git: Gestion de version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GitHub: Hébergement, CI/CD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</a:t>
            </a:r>
            <a:r>
              <a:rPr lang="fr-FR" sz="1600">
                <a:latin typeface="Agave Nerd Font" panose="020B0509030604020203" charset="0"/>
              </a:rPr>
              <a:t>Plan</a:t>
            </a:r>
            <a:r>
              <a:rPr sz="1600">
                <a:latin typeface="Agave Nerd Font" panose="020B0509030604020203" charset="0"/>
              </a:rPr>
              <a:t>: Communication équipe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Trello: Gestion des tâches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• Docker Desktop: Développement local</a:t>
            </a:r>
            <a:endParaRPr sz="1600">
              <a:latin typeface="Agave Nerd Font" panose="020B0509030604020203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latin typeface="Agave Nerd Font" panose="020B0509030604020203" charset="0"/>
              </a:rPr>
              <a:t>Commandes Utiles</a:t>
            </a:r>
            <a:endParaRPr sz="2800">
              <a:latin typeface="Agave Nerd Font" panose="020B0509030604020203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181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70C0"/>
                </a:solidFill>
              </a:defRPr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FastAPI (Python)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cd api-gateway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pip install -r requirements.txt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uvicorn app.main:app --reload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pytest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4114800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70C0"/>
                </a:solidFill>
              </a:defRPr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Spring Boot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cd backend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mvn clean spring-boot:run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# Tests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mvn test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# Build JAR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mvn clean package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  <a:p>
            <a:pPr>
              <a:defRPr sz="1400"/>
            </a:pPr>
            <a:r>
              <a:rPr sz="1600">
                <a:latin typeface="Agave Nerd Font" panose="020B0509030604020203" charset="0"/>
                <a:ea typeface="Agave Nerd Font" panose="020B0509030604020203" charset="0"/>
                <a:cs typeface="Agave Nerd Font" panose="020B0509030604020203" charset="0"/>
              </a:rPr>
              <a:t>java -jar target/*.jar</a:t>
            </a:r>
            <a:endParaRPr sz="1600">
              <a:latin typeface="Agave Nerd Font" panose="020B0509030604020203" charset="0"/>
              <a:ea typeface="Agave Nerd Font" panose="020B0509030604020203" charset="0"/>
              <a:cs typeface="Agave Nerd Font" panose="020B0509030604020203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>
                <a:latin typeface="Agave Nerd Font" panose="020B0509030604020203" charset="0"/>
              </a:rPr>
              <a:t>Docker Compose - Multi-Container Setup</a:t>
            </a:r>
            <a:endParaRPr sz="2800">
              <a:latin typeface="Agave Nerd Font" panose="020B05090306040202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75435"/>
            <a:ext cx="8229600" cy="4551045"/>
          </a:xfrm>
        </p:spPr>
        <p:txBody>
          <a:bodyPr/>
          <a:lstStyle/>
          <a:p>
            <a:pPr marL="0" indent="0">
              <a:buNone/>
            </a:pP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Services:</a:t>
            </a:r>
            <a:endParaRPr sz="1600">
              <a:latin typeface="Agave Nerd Font" panose="020B0509030604020203" charset="0"/>
            </a:endParaRPr>
          </a:p>
          <a:p>
            <a:pPr marL="457200" lvl="1" indent="0" algn="l">
              <a:buNone/>
              <a:defRPr sz="1800"/>
            </a:pPr>
            <a:r>
              <a:rPr sz="1400">
                <a:latin typeface="Agave Nerd Font" panose="020B0509030604020203" charset="0"/>
              </a:rPr>
              <a:t>• fastapi - API Gateway (Port 8000)</a:t>
            </a:r>
            <a:endParaRPr sz="1400">
              <a:latin typeface="Agave Nerd Font" panose="020B0509030604020203" charset="0"/>
            </a:endParaRPr>
          </a:p>
          <a:p>
            <a:pPr marL="457200" lvl="1" indent="0" algn="l">
              <a:buNone/>
              <a:defRPr sz="1800"/>
            </a:pPr>
            <a:r>
              <a:rPr sz="1400">
                <a:latin typeface="Agave Nerd Font" panose="020B0509030604020203" charset="0"/>
              </a:rPr>
              <a:t>• backend - Spring Boot (Port 8080)</a:t>
            </a:r>
            <a:endParaRPr sz="1400">
              <a:latin typeface="Agave Nerd Font" panose="020B0509030604020203" charset="0"/>
            </a:endParaRPr>
          </a:p>
          <a:p>
            <a:pPr marL="457200" lvl="1" indent="0" algn="l">
              <a:buNone/>
              <a:defRPr sz="1800"/>
            </a:pPr>
            <a:r>
              <a:rPr sz="1400">
                <a:latin typeface="Agave Nerd Font" panose="020B0509030604020203" charset="0"/>
              </a:rPr>
              <a:t>• postgresql - Base de données (Port 5432)</a:t>
            </a:r>
            <a:endParaRPr sz="14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Commandes:</a:t>
            </a:r>
            <a:endParaRPr sz="1600">
              <a:latin typeface="Agave Nerd Font" panose="020B0509030604020203" charset="0"/>
            </a:endParaRPr>
          </a:p>
          <a:p>
            <a:pPr marL="457200" lvl="1" indent="0">
              <a:buNone/>
              <a:defRPr sz="1800"/>
            </a:pPr>
            <a:r>
              <a:rPr sz="1400">
                <a:latin typeface="Agave Nerd Font" panose="020B0509030604020203" charset="0"/>
              </a:rPr>
              <a:t>docker-compose up -d</a:t>
            </a:r>
            <a:endParaRPr sz="1400">
              <a:latin typeface="Agave Nerd Font" panose="020B0509030604020203" charset="0"/>
            </a:endParaRPr>
          </a:p>
          <a:p>
            <a:pPr marL="457200" lvl="1" indent="0">
              <a:buNone/>
              <a:defRPr sz="1800"/>
            </a:pPr>
            <a:r>
              <a:rPr sz="1400">
                <a:latin typeface="Agave Nerd Font" panose="020B0509030604020203" charset="0"/>
              </a:rPr>
              <a:t>docker-compose logs -f</a:t>
            </a:r>
            <a:endParaRPr sz="1400">
              <a:latin typeface="Agave Nerd Font" panose="020B0509030604020203" charset="0"/>
            </a:endParaRPr>
          </a:p>
          <a:p>
            <a:pPr marL="457200" lvl="1" indent="0">
              <a:buNone/>
              <a:defRPr sz="1800"/>
            </a:pPr>
            <a:r>
              <a:rPr sz="1400">
                <a:latin typeface="Agave Nerd Font" panose="020B0509030604020203" charset="0"/>
              </a:rPr>
              <a:t>docker-compose down</a:t>
            </a:r>
            <a:endParaRPr sz="14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Accès:</a:t>
            </a:r>
            <a:endParaRPr sz="1600">
              <a:latin typeface="Agave Nerd Font" panose="020B0509030604020203" charset="0"/>
            </a:endParaRPr>
          </a:p>
          <a:p>
            <a:pPr marL="457200" lvl="1" indent="0">
              <a:buNone/>
              <a:defRPr sz="1800"/>
            </a:pPr>
            <a:r>
              <a:rPr sz="1400">
                <a:latin typeface="Agave Nerd Font" panose="020B0509030604020203" charset="0"/>
              </a:rPr>
              <a:t>• Swagger: http://localhost:8000/docs</a:t>
            </a:r>
            <a:endParaRPr sz="1400">
              <a:latin typeface="Agave Nerd Font" panose="020B0509030604020203" charset="0"/>
            </a:endParaRPr>
          </a:p>
          <a:p>
            <a:pPr marL="457200" lvl="1" indent="0">
              <a:buNone/>
              <a:defRPr sz="1800"/>
            </a:pPr>
            <a:r>
              <a:rPr sz="1400">
                <a:latin typeface="Agave Nerd Font" panose="020B0509030604020203" charset="0"/>
              </a:rPr>
              <a:t>• Spring Boot: http://localhost:8080/api</a:t>
            </a:r>
            <a:endParaRPr sz="1400">
              <a:latin typeface="Agave Nerd Font" panose="020B0509030604020203" charset="0"/>
            </a:endParaRPr>
          </a:p>
          <a:p>
            <a:pPr marL="457200" lvl="1" indent="0">
              <a:buNone/>
              <a:defRPr sz="1800"/>
            </a:pPr>
            <a:r>
              <a:rPr sz="1400">
                <a:latin typeface="Agave Nerd Font" panose="020B0509030604020203" charset="0"/>
              </a:rPr>
              <a:t>• PostgreSQL: localhost:5432</a:t>
            </a:r>
            <a:endParaRPr sz="1400">
              <a:latin typeface="Agave Nerd Font" panose="020B0509030604020203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>
                <a:latin typeface="Agave Nerd Font" panose="020B0509030604020203" charset="0"/>
              </a:rPr>
              <a:t>Flux de Données - FastAPI ↔ Spring Boot</a:t>
            </a:r>
            <a:endParaRPr sz="2800">
              <a:latin typeface="Agave Nerd Font" panose="020B05090306040202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1. Client → Requête HTTP → FastAPI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2. FastAPI valide (Pydantic) et authentifie (JWT)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3. FastAPI route vers le bon endpoint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4. FastAPI → HTTP REST → Spring Boot Controller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5. Spring Boot traite la logique métier (@Service)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6. Spring Boot persiste/lit les données (Spring Data JPA)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7. Spring Boot → Réponse JSON → FastAPI</a:t>
            </a:r>
            <a:endParaRPr sz="1600"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r>
              <a:rPr sz="1600">
                <a:latin typeface="Agave Nerd Font" panose="020B0509030604020203" charset="0"/>
              </a:rPr>
              <a:t>8. FastAPI → Réponse + Swagger doc → Client</a:t>
            </a:r>
            <a:endParaRPr sz="1600">
              <a:latin typeface="Agave Nerd Font" panose="020B0509030604020203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latin typeface="Agave Nerd Font" panose="020B0509030604020203" charset="0"/>
              </a:rPr>
              <a:t>Conclusion</a:t>
            </a:r>
            <a:endParaRPr sz="2800">
              <a:latin typeface="Agave Nerd Font" panose="020B0509030604020203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7160"/>
            <a:ext cx="8229600" cy="4719320"/>
          </a:xfrm>
        </p:spPr>
        <p:txBody>
          <a:bodyPr/>
          <a:lstStyle/>
          <a:p>
            <a:pPr marL="0" indent="0">
              <a:buNone/>
            </a:pPr>
            <a:endParaRPr sz="1600">
              <a:ln/>
              <a:solidFill>
                <a:schemeClr val="accent3"/>
              </a:solidFill>
              <a:latin typeface="Agave Nerd Font" panose="020B0509030604020203" charset="0"/>
            </a:endParaRPr>
          </a:p>
          <a:p>
            <a:pPr algn="l">
              <a:defRPr sz="1800"/>
            </a:pPr>
            <a:r>
              <a:rPr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ave Nerd Font" panose="020B0509030604020203" charset="0"/>
              </a:rPr>
              <a:t>Architecture hybride moderne:</a:t>
            </a:r>
            <a:endParaRPr sz="16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gave Nerd Font" panose="020B0509030604020203" charset="0"/>
            </a:endParaRPr>
          </a:p>
          <a:p>
            <a:pPr lvl="1" algn="l">
              <a:defRPr sz="1800"/>
            </a:pPr>
            <a:r>
              <a:rPr sz="1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ave Nerd Font" panose="020B0509030604020203" charset="0"/>
              </a:rPr>
              <a:t>• FastAPI pour l'API REST (Python)</a:t>
            </a:r>
            <a:endParaRPr sz="14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gave Nerd Font" panose="020B0509030604020203" charset="0"/>
            </a:endParaRPr>
          </a:p>
          <a:p>
            <a:pPr lvl="1" algn="l">
              <a:defRPr sz="1800"/>
            </a:pPr>
            <a:r>
              <a:rPr sz="1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ave Nerd Font" panose="020B0509030604020203" charset="0"/>
              </a:rPr>
              <a:t>• Spring Boot pour le backend (Java)</a:t>
            </a:r>
            <a:endParaRPr sz="14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gave Nerd Font" panose="020B0509030604020203" charset="0"/>
            </a:endParaRPr>
          </a:p>
          <a:p>
            <a:pPr lvl="1" algn="l">
              <a:defRPr sz="1800"/>
            </a:pPr>
            <a:r>
              <a:rPr sz="1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ave Nerd Font" panose="020B0509030604020203" charset="0"/>
              </a:rPr>
              <a:t>• Communication REST/JSON</a:t>
            </a:r>
            <a:endParaRPr sz="14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gave Nerd Font" panose="020B0509030604020203" charset="0"/>
            </a:endParaRPr>
          </a:p>
          <a:p>
            <a:pPr lvl="1" algn="l">
              <a:defRPr sz="1800"/>
            </a:pPr>
            <a:r>
              <a:rPr sz="14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ave Nerd Font" panose="020B0509030604020203" charset="0"/>
              </a:rPr>
              <a:t>• IA/ML en Python</a:t>
            </a:r>
            <a:endParaRPr sz="14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gave Nerd Font" panose="020B0509030604020203" charset="0"/>
            </a:endParaRPr>
          </a:p>
          <a:p>
            <a:pPr algn="l">
              <a:defRPr sz="1800"/>
            </a:pPr>
            <a:r>
              <a:rPr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ave Nerd Font" panose="020B0509030604020203" charset="0"/>
              </a:rPr>
              <a:t>7 étudiants avec des rôles bien définis</a:t>
            </a:r>
            <a:endParaRPr sz="16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gave Nerd Font" panose="020B0509030604020203" charset="0"/>
            </a:endParaRPr>
          </a:p>
          <a:p>
            <a:pPr algn="l">
              <a:defRPr sz="1800"/>
            </a:pPr>
            <a:r>
              <a:rPr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ave Nerd Font" panose="020B0509030604020203" charset="0"/>
              </a:rPr>
              <a:t>Documentation API interactive (Swagger)</a:t>
            </a:r>
            <a:endParaRPr sz="16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gave Nerd Font" panose="020B0509030604020203" charset="0"/>
            </a:endParaRPr>
          </a:p>
          <a:p>
            <a:pPr algn="l">
              <a:defRPr sz="1800"/>
            </a:pPr>
            <a:r>
              <a:rPr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ave Nerd Font" panose="020B0509030604020203" charset="0"/>
              </a:rPr>
              <a:t>Tests automatisés + Postman</a:t>
            </a:r>
            <a:endParaRPr sz="16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gave Nerd Font" panose="020B0509030604020203" charset="0"/>
            </a:endParaRPr>
          </a:p>
          <a:p>
            <a:pPr algn="l">
              <a:defRPr sz="1800"/>
            </a:pPr>
            <a:r>
              <a:rPr sz="16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gave Nerd Font" panose="020B0509030604020203" charset="0"/>
              </a:rPr>
              <a:t>Déploiement Docker Compose</a:t>
            </a:r>
            <a:endParaRPr sz="16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gave Nerd Font" panose="020B0509030604020203" charset="0"/>
            </a:endParaRPr>
          </a:p>
          <a:p>
            <a:pPr>
              <a:buNone/>
              <a:defRPr sz="1800"/>
            </a:pPr>
            <a:endParaRPr sz="1600">
              <a:ln/>
              <a:solidFill>
                <a:schemeClr val="accent3"/>
              </a:solidFill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endParaRPr sz="1600">
              <a:ln/>
              <a:solidFill>
                <a:schemeClr val="accent3"/>
              </a:solidFill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endParaRPr sz="1600">
              <a:ln/>
              <a:solidFill>
                <a:schemeClr val="accent3"/>
              </a:solidFill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endParaRPr sz="1600">
              <a:ln/>
              <a:solidFill>
                <a:schemeClr val="accent3"/>
              </a:solidFill>
              <a:latin typeface="Agave Nerd Font" panose="020B0509030604020203" charset="0"/>
            </a:endParaRPr>
          </a:p>
          <a:p>
            <a:pPr marL="0" indent="0">
              <a:buNone/>
              <a:defRPr sz="1800"/>
            </a:pPr>
            <a:endParaRPr sz="1600">
              <a:ln/>
              <a:solidFill>
                <a:schemeClr val="accent3"/>
              </a:solidFill>
              <a:latin typeface="Agave Nerd Font" panose="020B0509030604020203" charset="0"/>
            </a:endParaRPr>
          </a:p>
          <a:p>
            <a:pPr marL="0" indent="0" algn="ctr">
              <a:buNone/>
              <a:defRPr sz="1800"/>
            </a:pPr>
            <a:r>
              <a:rPr sz="1600">
                <a:ln/>
                <a:solidFill>
                  <a:schemeClr val="accent3"/>
                </a:solidFill>
                <a:latin typeface="Agave Nerd Font" panose="020B0509030604020203" charset="0"/>
              </a:rPr>
              <a:t>Projet Plateforme de Recrutement Intelligente 2026</a:t>
            </a:r>
            <a:endParaRPr sz="1600">
              <a:ln/>
              <a:solidFill>
                <a:schemeClr val="accent3"/>
              </a:solidFill>
              <a:latin typeface="Agave Nerd Font" panose="020B0509030604020203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gave Nerd Font"/>
        <a:font script="Hebr" typeface="Agave Nerd Fon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gave Nerd Fon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gave Nerd Font"/>
        <a:font script="Hebr" typeface="Agave Nerd Fon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gave Nerd Fon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9440</Words>
  <Application>WPS Presentation</Application>
  <PresentationFormat>On-screen Show (4:3)</PresentationFormat>
  <Paragraphs>584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8" baseType="lpstr">
      <vt:lpstr>Arial</vt:lpstr>
      <vt:lpstr>SimSun</vt:lpstr>
      <vt:lpstr>Wingdings</vt:lpstr>
      <vt:lpstr>DejaVu Sans</vt:lpstr>
      <vt:lpstr>Agave Nerd Font</vt:lpstr>
      <vt:lpstr>Microsoft YaHei</vt:lpstr>
      <vt:lpstr>Droid Sans Fallback</vt:lpstr>
      <vt:lpstr>Arial Unicode MS</vt:lpstr>
      <vt:lpstr>Calibri</vt:lpstr>
      <vt:lpstr>OpenSymbol</vt:lpstr>
      <vt:lpstr>Wingdings</vt:lpstr>
      <vt:lpstr>Quicksand Light</vt:lpstr>
      <vt:lpstr>Default Design</vt:lpstr>
      <vt:lpstr>Plateforme de Recrutement Intelligente</vt:lpstr>
      <vt:lpstr>Description du Projet</vt:lpstr>
      <vt:lpstr>Technologies Utilisées</vt:lpstr>
      <vt:lpstr>Architecture Hybride FastAPI + Spring Boot</vt:lpstr>
      <vt:lpstr>Acteurs du Système</vt:lpstr>
      <vt:lpstr>Endpoints API - Authentication</vt:lpstr>
      <vt:lpstr>Endpoints API - Candidat</vt:lpstr>
      <vt:lpstr>Endpoints API - Recruteur</vt:lpstr>
      <vt:lpstr>Endpoints API - Admin &amp; IA</vt:lpstr>
      <vt:lpstr>Répartition des Rôles (7 Étudiants)</vt:lpstr>
      <vt:lpstr>Étudiant 1: Chef de Projet &amp; Architecte</vt:lpstr>
      <vt:lpstr>Backend Java - Data &amp; Service Layers</vt:lpstr>
      <vt:lpstr>Étudiant 4: Backend Java (REST Controllers)</vt:lpstr>
      <vt:lpstr>Étudiant 5: API Developer (FastAPI)</vt:lpstr>
      <vt:lpstr>Étudiant 6: IA/ML Developer</vt:lpstr>
      <vt:lpstr>Étudiant 7: DevOps &amp; QA Engineer</vt:lpstr>
      <vt:lpstr>Planning de Développement</vt:lpstr>
      <vt:lpstr>Structure du Projet - API Gateway (FastAPI)</vt:lpstr>
      <vt:lpstr>Structure du Projet - Backend (Spring Boot)</vt:lpstr>
      <vt:lpstr>Validation du Plan - Tests à Effectuer</vt:lpstr>
      <vt:lpstr>Outils de Test &amp; Développement</vt:lpstr>
      <vt:lpstr>Commandes Utiles</vt:lpstr>
      <vt:lpstr>Docker Compose - Multi-Container Setup</vt:lpstr>
      <vt:lpstr>Flux de Données - FastAPI ↔ Spring Boot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fate</cp:lastModifiedBy>
  <cp:revision>8</cp:revision>
  <dcterms:created xsi:type="dcterms:W3CDTF">2026-01-21T18:12:08Z</dcterms:created>
  <dcterms:modified xsi:type="dcterms:W3CDTF">2026-01-21T18:12:08Z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